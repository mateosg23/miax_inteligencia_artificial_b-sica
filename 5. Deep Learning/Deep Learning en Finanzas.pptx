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21" Type="http://schemas.openxmlformats.org/officeDocument/2006/relationships/font" Target="fonts/PoppinsSemiBold-regular.fntdata"/><Relationship Id="rId13" Type="http://schemas.openxmlformats.org/officeDocument/2006/relationships/font" Target="fonts/Poppins-regular.fntdata"/><Relationship Id="rId24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Lato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a93e6e8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3a93e6e8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708844"/>
            <a:ext cx="8572500" cy="34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95500" y="2185094"/>
            <a:ext cx="800100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Redes Neuronales para Forecasting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1653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Taller B3-T4: Competición, Preprocesado Financiero y Carteras 2025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463206"/>
            <a:ext cx="76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Equipo de Análisis: </a:t>
            </a:r>
            <a:r>
              <a:rPr i="1" lang="en-US" sz="13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Rodolfo Villena, Borja Castelló, Alejandro García y Mateo Santos</a:t>
            </a:r>
            <a:r>
              <a:rPr b="0" i="1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28837"/>
            <a:ext cx="342900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28837"/>
            <a:ext cx="342900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28837"/>
            <a:ext cx="34290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Enfoque de la Competición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95876" y="3252787"/>
            <a:ext cx="198024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7957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Evaluamos rigurosamente familias de modelos Densos, Recurrentes (LSTM/RNN), Convolucionales y combinaciones Mixtas frente a los baselines históricos.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240893" y="3252787"/>
            <a:ext cx="1710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Ejecuciones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76775" y="37957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Realizamos 320 ejecuciones sobre 16 combinaciones temporales estratégicas, variando ventanas de entrada y ventanas de predicción de salida.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305925" y="3252787"/>
            <a:ext cx="1200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86775" y="37957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Estimar con la máxima precisión el promedio del valor de cierre, minimizando el Error Absoluto Promedio (MAE) en activos financieros del SP500.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25669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25669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56698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ganador por combinación de ventanas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285875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805162" y="6536342"/>
            <a:ext cx="658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 Criterio de victoria basado en la minimización del MAE en el conjunto de validación/test.</a:t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11824"/>
          <a:stretch/>
        </p:blipFill>
        <p:spPr>
          <a:xfrm>
            <a:off x="1694525" y="1480388"/>
            <a:ext cx="7254899" cy="48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6749" y="2383250"/>
            <a:ext cx="2163751" cy="376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Reflexiones Estratégicas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1143000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-"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medida que el horizonte temporal de la ventana de salida aumenta, el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MAE disminuye consistentemente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Esto se debe al efecto natural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suavizado estadístico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donde la media absorbe los picos aislados del mercado.</a:t>
            </a:r>
            <a:endParaRPr sz="1500"/>
          </a:p>
        </p:txBody>
      </p:sp>
      <p:sp>
        <p:nvSpPr>
          <p:cNvPr id="123" name="Google Shape;123;p16"/>
          <p:cNvSpPr txBox="1"/>
          <p:nvPr/>
        </p:nvSpPr>
        <p:spPr>
          <a:xfrm>
            <a:off x="571488" y="2850793"/>
            <a:ext cx="52863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-"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tamaño de las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ventanas de entrada no aporta una mejora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sustancial en el poder predictivo. En un entorno saturado de ruido estocástico, los algoritmos complejos de Deep Learning no logran batir consistentemente a las métricas baselines simples (como la media histórica, regresiones lineales, etc).</a:t>
            </a:r>
            <a:endParaRPr sz="150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330973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Lato"/>
              <a:buChar char="-"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Paradójicamente, la mejor arquitectura para generalizar patrones reales resultaron ser las Redes Densas Clásicas (MLP).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23987"/>
            <a:ext cx="52863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23987"/>
            <a:ext cx="52863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30003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Rigor Analítico: Técnicas de Preprocesado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71500" y="1014412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057275" y="1909762"/>
            <a:ext cx="453056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de Competición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819900" y="1909762"/>
            <a:ext cx="453056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de Investigación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343025" y="2452687"/>
            <a:ext cx="402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Formación de ventanas temporales precisas utilizando secuencias de entrada y salida fijas.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343025" y="3252787"/>
            <a:ext cx="4029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Partición estricta de datos cronológicos en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Entrenamiento, Validación y Test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evitar el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leakage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343025" y="4357687"/>
            <a:ext cx="4029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Aplicación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StandardScaler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ajustado únicamente en el conjunto de entrenamiento (fit) y aplicado (transform) en validación y test.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070688" y="3894787"/>
            <a:ext cx="4029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Estabilización de las series mediante el uso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retornos logarítmicos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continuos para las variables objetivo (y ).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105650" y="2452687"/>
            <a:ext cx="4029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Conservación de la memoria del mercado utilizando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retornos diferenciados fraccionalmente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 = 0.4) como variables de entrada (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105650" y="4967287"/>
            <a:ext cx="4029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robusto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 solapamiento temporal (look ahead bias)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 la información de las ventanas de entrada y los puntos a predecir.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4955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32956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44005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9900" y="24955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9900" y="39004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9900" y="501015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529875" y="105427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la Predicción a la Cartera (Año 2025)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5938847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estrategia táctica del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Modelo (30,90)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basada en rebalanceos mensuales con activos equiponderados, obtiene un retorno superior ajustado por volatilidad (Ratio de Sharpe: 1.41).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00" y="567113"/>
            <a:ext cx="10826926" cy="5371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295275" y="2540330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Conclusión y Preguntas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4690913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Gracias por su atención.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