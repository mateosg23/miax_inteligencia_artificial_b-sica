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2F406-9512-452E-BB19-0AA26F3DF28F}" v="1" dt="2026-05-20T19:38:14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o Santos García" userId="cd3bcaaf5bd6bdd1" providerId="LiveId" clId="{DAF09D9E-6FC3-416C-90C1-2279F75F40C7}"/>
    <pc:docChg chg="undo custSel modSld sldOrd">
      <pc:chgData name="Mateo Santos García" userId="cd3bcaaf5bd6bdd1" providerId="LiveId" clId="{DAF09D9E-6FC3-416C-90C1-2279F75F40C7}" dt="2026-05-20T22:39:35.681" v="5" actId="1076"/>
      <pc:docMkLst>
        <pc:docMk/>
      </pc:docMkLst>
      <pc:sldChg chg="modSp mod">
        <pc:chgData name="Mateo Santos García" userId="cd3bcaaf5bd6bdd1" providerId="LiveId" clId="{DAF09D9E-6FC3-416C-90C1-2279F75F40C7}" dt="2026-05-20T22:39:35.681" v="5" actId="1076"/>
        <pc:sldMkLst>
          <pc:docMk/>
          <pc:sldMk cId="0" sldId="257"/>
        </pc:sldMkLst>
        <pc:spChg chg="mod">
          <ac:chgData name="Mateo Santos García" userId="cd3bcaaf5bd6bdd1" providerId="LiveId" clId="{DAF09D9E-6FC3-416C-90C1-2279F75F40C7}" dt="2026-05-20T22:39:35.681" v="5" actId="1076"/>
          <ac:spMkLst>
            <pc:docMk/>
            <pc:sldMk cId="0" sldId="257"/>
            <ac:spMk id="5" creationId="{00000000-0000-0000-0000-000000000000}"/>
          </ac:spMkLst>
        </pc:spChg>
      </pc:sldChg>
      <pc:sldChg chg="ord">
        <pc:chgData name="Mateo Santos García" userId="cd3bcaaf5bd6bdd1" providerId="LiveId" clId="{DAF09D9E-6FC3-416C-90C1-2279F75F40C7}" dt="2026-05-20T22:02:08.758" v="3"/>
        <pc:sldMkLst>
          <pc:docMk/>
          <pc:sldMk cId="0" sldId="259"/>
        </pc:sldMkLst>
      </pc:sldChg>
    </pc:docChg>
  </pc:docChgLst>
  <pc:docChgLst>
    <pc:chgData name="Alejandro García-Caro" userId="c7d6dd7d0ff7263d" providerId="LiveId" clId="{C56A1111-6DC3-487C-A335-EAEF79C10916}"/>
    <pc:docChg chg="undo custSel addSld modSld sldOrd">
      <pc:chgData name="Alejandro García-Caro" userId="c7d6dd7d0ff7263d" providerId="LiveId" clId="{C56A1111-6DC3-487C-A335-EAEF79C10916}" dt="2026-05-20T19:41:40.657" v="35" actId="122"/>
      <pc:docMkLst>
        <pc:docMk/>
      </pc:docMkLst>
      <pc:sldChg chg="delSp modSp mod">
        <pc:chgData name="Alejandro García-Caro" userId="c7d6dd7d0ff7263d" providerId="LiveId" clId="{C56A1111-6DC3-487C-A335-EAEF79C10916}" dt="2026-05-20T19:41:40.657" v="35" actId="122"/>
        <pc:sldMkLst>
          <pc:docMk/>
          <pc:sldMk cId="0" sldId="256"/>
        </pc:sldMkLst>
        <pc:spChg chg="mod">
          <ac:chgData name="Alejandro García-Caro" userId="c7d6dd7d0ff7263d" providerId="LiveId" clId="{C56A1111-6DC3-487C-A335-EAEF79C10916}" dt="2026-05-20T19:41:34.978" v="34" actId="122"/>
          <ac:spMkLst>
            <pc:docMk/>
            <pc:sldMk cId="0" sldId="256"/>
            <ac:spMk id="5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17.441" v="8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29.162" v="12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14.509" v="6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Alejandro García-Caro" userId="c7d6dd7d0ff7263d" providerId="LiveId" clId="{C56A1111-6DC3-487C-A335-EAEF79C10916}" dt="2026-05-20T19:39:25.324" v="11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29.162" v="1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29.162" v="12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25.324" v="11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25.324" v="11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04.830" v="3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29.162" v="12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39:30.383" v="13" actId="478"/>
          <ac:spMkLst>
            <pc:docMk/>
            <pc:sldMk cId="0" sldId="256"/>
            <ac:spMk id="16" creationId="{00000000-0000-0000-0000-000000000000}"/>
          </ac:spMkLst>
        </pc:spChg>
        <pc:spChg chg="del mod">
          <ac:chgData name="Alejandro García-Caro" userId="c7d6dd7d0ff7263d" providerId="LiveId" clId="{C56A1111-6DC3-487C-A335-EAEF79C10916}" dt="2026-05-20T19:39:34.506" v="15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41:27.315" v="32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41:27.315" v="32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41:27.315" v="32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41:27.315" v="32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41:27.315" v="32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41:27.315" v="32" actId="478"/>
          <ac:spMkLst>
            <pc:docMk/>
            <pc:sldMk cId="0" sldId="256"/>
            <ac:spMk id="24" creationId="{00000000-0000-0000-0000-000000000000}"/>
          </ac:spMkLst>
        </pc:spChg>
        <pc:spChg chg="del mod">
          <ac:chgData name="Alejandro García-Caro" userId="c7d6dd7d0ff7263d" providerId="LiveId" clId="{C56A1111-6DC3-487C-A335-EAEF79C10916}" dt="2026-05-20T19:41:22.026" v="31" actId="478"/>
          <ac:spMkLst>
            <pc:docMk/>
            <pc:sldMk cId="0" sldId="256"/>
            <ac:spMk id="25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41:27.315" v="32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Alejandro García-Caro" userId="c7d6dd7d0ff7263d" providerId="LiveId" clId="{C56A1111-6DC3-487C-A335-EAEF79C10916}" dt="2026-05-20T19:41:27.315" v="32" actId="478"/>
          <ac:spMkLst>
            <pc:docMk/>
            <pc:sldMk cId="0" sldId="256"/>
            <ac:spMk id="27" creationId="{00000000-0000-0000-0000-000000000000}"/>
          </ac:spMkLst>
        </pc:spChg>
        <pc:graphicFrameChg chg="mod modGraphic">
          <ac:chgData name="Alejandro García-Caro" userId="c7d6dd7d0ff7263d" providerId="LiveId" clId="{C56A1111-6DC3-487C-A335-EAEF79C10916}" dt="2026-05-20T19:41:40.657" v="35" actId="122"/>
          <ac:graphicFrameMkLst>
            <pc:docMk/>
            <pc:sldMk cId="0" sldId="256"/>
            <ac:graphicFrameMk id="18" creationId="{00000000-0000-0000-0000-000000000000}"/>
          </ac:graphicFrameMkLst>
        </pc:graphicFrameChg>
      </pc:sldChg>
      <pc:sldChg chg="add ord setBg">
        <pc:chgData name="Alejandro García-Caro" userId="c7d6dd7d0ff7263d" providerId="LiveId" clId="{C56A1111-6DC3-487C-A335-EAEF79C10916}" dt="2026-05-20T19:38:16.273" v="2"/>
        <pc:sldMkLst>
          <pc:docMk/>
          <pc:sldMk cId="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164592" cy="5303520"/>
          </a:xfrm>
          <a:prstGeom prst="rect">
            <a:avLst/>
          </a:prstGeom>
          <a:solidFill>
            <a:srgbClr val="DE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704088"/>
            <a:ext cx="21945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1" i="0">
                <a:solidFill>
                  <a:srgbClr val="C6D2E0"/>
                </a:solidFill>
                <a:latin typeface="Aptos"/>
              </a:rPr>
              <a:t>TALLER B3-T4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7955279" cy="1417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500" b="1" i="0" dirty="0" err="1">
                <a:solidFill>
                  <a:srgbClr val="FFFFFF"/>
                </a:solidFill>
                <a:latin typeface="Aptos Display"/>
              </a:rPr>
              <a:t>Predicción</a:t>
            </a:r>
            <a:r>
              <a:rPr sz="3500" b="1" i="0" dirty="0">
                <a:solidFill>
                  <a:srgbClr val="FFFFFF"/>
                </a:solidFill>
                <a:latin typeface="Aptos Display"/>
              </a:rPr>
              <a:t> de </a:t>
            </a:r>
            <a:r>
              <a:rPr sz="3500" b="1" i="0" dirty="0" err="1">
                <a:solidFill>
                  <a:srgbClr val="FFFFFF"/>
                </a:solidFill>
                <a:latin typeface="Aptos Display"/>
              </a:rPr>
              <a:t>retornos</a:t>
            </a:r>
            <a:r>
              <a:rPr sz="3500" b="1" i="0" dirty="0">
                <a:solidFill>
                  <a:srgbClr val="FFFFFF"/>
                </a:solidFill>
                <a:latin typeface="Aptos Display"/>
              </a:rPr>
              <a:t> con redes </a:t>
            </a:r>
            <a:r>
              <a:rPr sz="3500" b="1" i="0" dirty="0" err="1">
                <a:solidFill>
                  <a:srgbClr val="FFFFFF"/>
                </a:solidFill>
                <a:latin typeface="Aptos Display"/>
              </a:rPr>
              <a:t>neuronales</a:t>
            </a:r>
            <a:endParaRPr sz="35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2743200"/>
            <a:ext cx="694944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0" i="0">
                <a:solidFill>
                  <a:srgbClr val="CAD2DC"/>
                </a:solidFill>
                <a:latin typeface="Aptos"/>
              </a:rPr>
              <a:t>Competición de modelos, preprocesado financiero y comparación de carteras en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2148840" cy="1005840"/>
          </a:xfrm>
          <a:prstGeom prst="roundRect">
            <a:avLst/>
          </a:prstGeom>
          <a:solidFill>
            <a:srgbClr val="192436"/>
          </a:solidFill>
          <a:ln w="9525">
            <a:solidFill>
              <a:srgbClr val="414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3977639"/>
            <a:ext cx="54864" cy="1005840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4142231"/>
            <a:ext cx="18745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572000"/>
            <a:ext cx="192024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 i="0">
                <a:solidFill>
                  <a:srgbClr val="BEC8D4"/>
                </a:solidFill>
                <a:latin typeface="Aptos"/>
              </a:rPr>
              <a:t>activos financieros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977639"/>
            <a:ext cx="2148840" cy="1005840"/>
          </a:xfrm>
          <a:prstGeom prst="roundRect">
            <a:avLst/>
          </a:prstGeom>
          <a:solidFill>
            <a:srgbClr val="192436"/>
          </a:solidFill>
          <a:ln w="9525">
            <a:solidFill>
              <a:srgbClr val="414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3977639"/>
            <a:ext cx="54864" cy="1005840"/>
          </a:xfrm>
          <a:prstGeom prst="rect">
            <a:avLst/>
          </a:prstGeom>
          <a:solidFill>
            <a:srgbClr val="C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0712" y="4142231"/>
            <a:ext cx="18745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4572000"/>
            <a:ext cx="192024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 i="0">
                <a:solidFill>
                  <a:srgbClr val="BEC8D4"/>
                </a:solidFill>
                <a:latin typeface="Aptos"/>
              </a:rPr>
              <a:t>combinaciones de ventanas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977639"/>
            <a:ext cx="2148840" cy="1005840"/>
          </a:xfrm>
          <a:prstGeom prst="roundRect">
            <a:avLst/>
          </a:prstGeom>
          <a:solidFill>
            <a:srgbClr val="192436"/>
          </a:solidFill>
          <a:ln w="9525">
            <a:solidFill>
              <a:srgbClr val="414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23560" y="3977639"/>
            <a:ext cx="54864" cy="1005840"/>
          </a:xfrm>
          <a:prstGeom prst="rect">
            <a:avLst/>
          </a:prstGeom>
          <a:solidFill>
            <a:srgbClr val="DE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88152" y="4142231"/>
            <a:ext cx="18745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320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4572000"/>
            <a:ext cx="192024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 i="0">
                <a:solidFill>
                  <a:srgbClr val="BEC8D4"/>
                </a:solidFill>
                <a:latin typeface="Aptos"/>
              </a:rPr>
              <a:t>ejecuciones modelo-ventana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6199632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 i="0">
                <a:solidFill>
                  <a:srgbClr val="B4BECC"/>
                </a:solidFill>
                <a:latin typeface="Aptos"/>
              </a:rPr>
              <a:t>Módulo 3 · Inteligencia Artificial Básica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164592" cy="164592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4114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21B29"/>
                </a:solidFill>
                <a:latin typeface="Aptos"/>
              </a:rPr>
              <a:t>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9184"/>
            <a:ext cx="731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>
                <a:solidFill>
                  <a:srgbClr val="586579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987552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700" b="1" dirty="0" err="1">
                <a:solidFill>
                  <a:srgbClr val="121B29"/>
                </a:solidFill>
                <a:latin typeface="Aptos"/>
              </a:rPr>
              <a:t>Qué</a:t>
            </a:r>
            <a:r>
              <a:rPr sz="2700" b="1" dirty="0">
                <a:solidFill>
                  <a:srgbClr val="121B29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21B29"/>
                </a:solidFill>
                <a:latin typeface="Aptos"/>
              </a:rPr>
              <a:t>hemos</a:t>
            </a:r>
            <a:r>
              <a:rPr sz="2700" b="1" dirty="0">
                <a:solidFill>
                  <a:srgbClr val="121B29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21B29"/>
                </a:solidFill>
                <a:latin typeface="Aptos"/>
              </a:rPr>
              <a:t>probado</a:t>
            </a:r>
            <a:r>
              <a:rPr sz="2700" b="1" dirty="0">
                <a:solidFill>
                  <a:srgbClr val="121B29"/>
                </a:solidFill>
                <a:latin typeface="Aptos"/>
              </a:rPr>
              <a:t> y </a:t>
            </a:r>
            <a:r>
              <a:rPr sz="2700" b="1" dirty="0" err="1">
                <a:solidFill>
                  <a:srgbClr val="121B29"/>
                </a:solidFill>
                <a:latin typeface="Aptos"/>
              </a:rPr>
              <a:t>por</a:t>
            </a:r>
            <a:r>
              <a:rPr sz="2700" b="1" dirty="0">
                <a:solidFill>
                  <a:srgbClr val="121B29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21B29"/>
                </a:solidFill>
                <a:latin typeface="Aptos"/>
              </a:rPr>
              <a:t>qué</a:t>
            </a:r>
            <a:r>
              <a:rPr sz="2700" b="1" dirty="0">
                <a:solidFill>
                  <a:srgbClr val="121B29"/>
                </a:solidFill>
                <a:latin typeface="Aptos"/>
              </a:rPr>
              <a:t> es comparable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584316"/>
              </p:ext>
            </p:extLst>
          </p:nvPr>
        </p:nvGraphicFramePr>
        <p:xfrm>
          <a:off x="512064" y="1353312"/>
          <a:ext cx="10460736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2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852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Familia</a:t>
                      </a:r>
                    </a:p>
                  </a:txBody>
                  <a:tcPr marL="36576" marR="36576" marT="18288" marB="18288">
                    <a:solidFill>
                      <a:srgbClr val="121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Probados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8288" marB="18288">
                    <a:solidFill>
                      <a:srgbClr val="121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Ganan</a:t>
                      </a:r>
                    </a:p>
                  </a:txBody>
                  <a:tcPr marL="36576" marR="36576" marT="18288" marB="18288">
                    <a:solidFill>
                      <a:srgbClr val="121B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85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21B29"/>
                          </a:solidFill>
                          <a:latin typeface="Aptos"/>
                        </a:rPr>
                        <a:t>Baselines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21B29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1B29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852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21B29"/>
                          </a:solidFill>
                          <a:latin typeface="Aptos"/>
                        </a:rPr>
                        <a:t>Densas</a:t>
                      </a:r>
                      <a:endParaRPr sz="1200" b="0" dirty="0">
                        <a:solidFill>
                          <a:srgbClr val="121B29"/>
                        </a:solidFill>
                        <a:latin typeface="Aptos"/>
                      </a:endParaRPr>
                    </a:p>
                  </a:txBody>
                  <a:tcPr marL="36576" marR="36576" marT="18288" marB="18288">
                    <a:solidFill>
                      <a:srgbClr val="EF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21B29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EF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1B29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EF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8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B29"/>
                          </a:solidFill>
                          <a:latin typeface="Aptos"/>
                        </a:rPr>
                        <a:t>Recurrentes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21B29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1B29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8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B29"/>
                          </a:solidFill>
                          <a:latin typeface="Aptos"/>
                        </a:rPr>
                        <a:t>Convolucionales</a:t>
                      </a:r>
                    </a:p>
                  </a:txBody>
                  <a:tcPr marL="36576" marR="36576" marT="18288" marB="18288">
                    <a:solidFill>
                      <a:srgbClr val="EF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21B29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EF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21B29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EF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8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B29"/>
                          </a:solidFill>
                          <a:latin typeface="Aptos"/>
                        </a:rPr>
                        <a:t>Mixtas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21B29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21B2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86579"/>
                </a:solidFill>
                <a:latin typeface="Aptos"/>
              </a:rPr>
              <a:t>Taller B3-T4 | Redes neuronales para series financieras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164592" cy="164592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4114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21B29"/>
                </a:solidFill>
                <a:latin typeface="Aptos"/>
              </a:rPr>
              <a:t>COMPETICIÓN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9184"/>
            <a:ext cx="731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>
                <a:solidFill>
                  <a:srgbClr val="586579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987552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21B29"/>
                </a:solidFill>
                <a:latin typeface="Aptos"/>
              </a:rPr>
              <a:t>Modelo ganador por combinación de ventanas</a:t>
            </a:r>
          </a:p>
        </p:txBody>
      </p:sp>
      <p:pic>
        <p:nvPicPr>
          <p:cNvPr id="6" name="Picture 5" descr="matriz_modelo_ganador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16152"/>
            <a:ext cx="6754761" cy="5166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298448"/>
            <a:ext cx="25603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60020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47E80"/>
                </a:solidFill>
                <a:latin typeface="Aptos"/>
              </a:rPr>
              <a:t>Lectura rápida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9448" y="2139696"/>
            <a:ext cx="73152" cy="73152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0616" y="2057400"/>
            <a:ext cx="18288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>
                <a:solidFill>
                  <a:srgbClr val="121B29"/>
                </a:solidFill>
                <a:latin typeface="Aptos"/>
              </a:rPr>
              <a:t>Salida 1 día: diferencias pequeñas y mucho ruido.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9448" y="2670048"/>
            <a:ext cx="73152" cy="73152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0616" y="2587752"/>
            <a:ext cx="18288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>
                <a:solidFill>
                  <a:srgbClr val="121B29"/>
                </a:solidFill>
                <a:latin typeface="Aptos"/>
              </a:rPr>
              <a:t>Salida 30 días: la media histórica es muy difícil de batir.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9448" y="3200400"/>
            <a:ext cx="73152" cy="73152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0616" y="3118104"/>
            <a:ext cx="18288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 dirty="0">
                <a:solidFill>
                  <a:srgbClr val="121B29"/>
                </a:solidFill>
                <a:latin typeface="Aptos"/>
              </a:rPr>
              <a:t>Salida 90 días: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vuelven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 a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ganar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 redes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en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todas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 las entradas.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9448" y="3730752"/>
            <a:ext cx="73152" cy="73152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0616" y="3648456"/>
            <a:ext cx="18288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 dirty="0">
                <a:solidFill>
                  <a:srgbClr val="121B29"/>
                </a:solidFill>
                <a:latin typeface="Aptos"/>
              </a:rPr>
              <a:t>No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domina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una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 sola familia: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el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horizonte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 </a:t>
            </a:r>
            <a:r>
              <a:rPr sz="1160" b="0" dirty="0" err="1">
                <a:solidFill>
                  <a:srgbClr val="121B29"/>
                </a:solidFill>
                <a:latin typeface="Aptos"/>
              </a:rPr>
              <a:t>manda</a:t>
            </a:r>
            <a:r>
              <a:rPr sz="1160" b="0" dirty="0">
                <a:solidFill>
                  <a:srgbClr val="121B29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86579"/>
                </a:solidFill>
                <a:latin typeface="Aptos"/>
              </a:rPr>
              <a:t>Taller B3-T4 | Redes neuronales para series financieras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164592" cy="164592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4114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21B29"/>
                </a:solidFill>
                <a:latin typeface="Aptos"/>
              </a:rPr>
              <a:t>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9184"/>
            <a:ext cx="731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>
                <a:solidFill>
                  <a:srgbClr val="586579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987552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21B29"/>
                </a:solidFill>
                <a:latin typeface="Aptos"/>
              </a:rPr>
              <a:t>De la predicción al resultado de cartera en 2025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98448"/>
            <a:ext cx="10287000" cy="51002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86579"/>
                </a:solidFill>
                <a:latin typeface="Aptos"/>
              </a:rPr>
              <a:t>Taller B3-T4 | Redes neuronales para series financieras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164592" cy="164592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4114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21B29"/>
                </a:solidFill>
                <a:latin typeface="Aptos"/>
              </a:rPr>
              <a:t>REFLEXIÓN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9184"/>
            <a:ext cx="731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>
                <a:solidFill>
                  <a:srgbClr val="586579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987552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21B29"/>
                </a:solidFill>
                <a:latin typeface="Aptos"/>
              </a:rPr>
              <a:t>Qué aprendemos de los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8346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47E80"/>
                </a:solidFill>
                <a:latin typeface="Aptos"/>
              </a:rPr>
              <a:t>1. La salida larga reduce el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7432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21B29"/>
                </a:solidFill>
                <a:latin typeface="Aptos"/>
              </a:rPr>
              <a:t>Al predecir medias de más días, el objetivo queda más suavizado. Por eso el MAE de salida 90 es menor que el de salida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93008"/>
            <a:ext cx="26517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1">
                <a:solidFill>
                  <a:srgbClr val="586579"/>
                </a:solidFill>
                <a:latin typeface="Aptos"/>
              </a:rPr>
              <a:t>MAE medio del mejor modelo: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40480"/>
            <a:ext cx="27432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21B29"/>
                </a:solidFill>
                <a:latin typeface="Aptos"/>
              </a:rPr>
              <a:t>1 día: 12.24 · 5 días: 5.58
30 días: 2.32 · 90 días: 1.26
(valores ×10⁻³)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4290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874519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DE6449"/>
                </a:solidFill>
                <a:latin typeface="Aptos"/>
              </a:rPr>
              <a:t>2. Batir baselines no es trivial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31720"/>
            <a:ext cx="2743200" cy="1325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21B29"/>
                </a:solidFill>
                <a:latin typeface="Aptos"/>
              </a:rPr>
              <a:t>La media histórica gana varias combinaciones, especialmente en salida 30 días. Eso nos dice que el mercado tiene mucho ruido y que una red compleja no mejora automáticamente.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041648"/>
            <a:ext cx="25603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1">
                <a:solidFill>
                  <a:srgbClr val="586579"/>
                </a:solidFill>
                <a:latin typeface="Aptos"/>
              </a:rPr>
              <a:t>Defensa clave: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370832"/>
            <a:ext cx="27432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21B29"/>
                </a:solidFill>
                <a:latin typeface="Aptos"/>
              </a:rPr>
              <a:t>Usar baselines evita vender humo: si una red no supera una regla simple, no merece ser la ganadora.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32461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874519"/>
            <a:ext cx="26517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C48F37"/>
                </a:solidFill>
                <a:latin typeface="Aptos"/>
              </a:rPr>
              <a:t>3. Predicción ≠ decisión financiera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31720"/>
            <a:ext cx="2514600" cy="12984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21B29"/>
                </a:solidFill>
                <a:latin typeface="Aptos"/>
              </a:rPr>
              <a:t>La investigación transforma predicciones en carteras. El modelo (30,90) mejora rentabilidad en 2025, pero hay que leerlo junto a volatilidad, costes de transacción y estabilidad temporal.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86579"/>
                </a:solidFill>
                <a:latin typeface="Aptos"/>
              </a:rPr>
              <a:t>Taller B3-T4 | Redes neuronales para series financieras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977639"/>
            <a:ext cx="2514600" cy="1078992"/>
          </a:xfrm>
          <a:prstGeom prst="round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68512" y="4133087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150" b="1">
                <a:solidFill>
                  <a:srgbClr val="147E80"/>
                </a:solidFill>
                <a:latin typeface="Aptos"/>
              </a:rPr>
              <a:t>Conclusión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4434840"/>
            <a:ext cx="192024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200" b="0">
                <a:solidFill>
                  <a:srgbClr val="121B29"/>
                </a:solidFill>
                <a:latin typeface="Aptos"/>
              </a:rPr>
              <a:t>El mejor modelo depende del horizonte y del uso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351</Words>
  <Application>Microsoft Office PowerPoint</Application>
  <PresentationFormat>Panorámica</PresentationFormat>
  <Paragraphs>61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Mateo Santos García</cp:lastModifiedBy>
  <cp:revision>1</cp:revision>
  <dcterms:created xsi:type="dcterms:W3CDTF">2013-01-27T09:14:16Z</dcterms:created>
  <dcterms:modified xsi:type="dcterms:W3CDTF">2026-05-20T22:40:20Z</dcterms:modified>
  <cp:category/>
</cp:coreProperties>
</file>